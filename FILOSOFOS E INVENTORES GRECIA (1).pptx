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6"/>
  </p:notesMasterIdLst>
  <p:sldIdLst>
    <p:sldId id="263" r:id="rId2"/>
    <p:sldId id="262" r:id="rId3"/>
    <p:sldId id="264" r:id="rId4"/>
    <p:sldId id="266" r:id="rId5"/>
    <p:sldId id="265" r:id="rId6"/>
    <p:sldId id="267" r:id="rId7"/>
    <p:sldId id="268" r:id="rId8"/>
    <p:sldId id="269" r:id="rId9"/>
    <p:sldId id="270" r:id="rId10"/>
    <p:sldId id="271" r:id="rId11"/>
    <p:sldId id="272" r:id="rId12"/>
    <p:sldId id="273" r:id="rId13"/>
    <p:sldId id="274" r:id="rId14"/>
    <p:sldId id="275" r:id="rId15"/>
    <p:sldId id="276"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89" r:id="rId29"/>
    <p:sldId id="290" r:id="rId30"/>
    <p:sldId id="257" r:id="rId31"/>
    <p:sldId id="258" r:id="rId32"/>
    <p:sldId id="259" r:id="rId33"/>
    <p:sldId id="260" r:id="rId34"/>
    <p:sldId id="261" r:id="rId35"/>
  </p:sldIdLst>
  <p:sldSz cx="9753600" cy="73152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99" d="100"/>
          <a:sy n="99" d="100"/>
        </p:scale>
        <p:origin x="1674"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858D27-F906-4CD9-8A7D-1EE8A29C0322}" type="datetimeFigureOut">
              <a:rPr lang="es-CO" smtClean="0"/>
              <a:t>13/09/2026</a:t>
            </a:fld>
            <a:endParaRPr lang="es-CO"/>
          </a:p>
        </p:txBody>
      </p:sp>
      <p:sp>
        <p:nvSpPr>
          <p:cNvPr id="4" name="Marcador de imagen de diapositiva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smtClean="0"/>
              <a:t>Editar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BED3B-4D05-43DA-991F-9D05B0743209}" type="slidenum">
              <a:rPr lang="es-CO" smtClean="0"/>
              <a:t>‹Nº›</a:t>
            </a:fld>
            <a:endParaRPr lang="es-CO"/>
          </a:p>
        </p:txBody>
      </p:sp>
    </p:spTree>
    <p:extLst>
      <p:ext uri="{BB962C8B-B14F-4D97-AF65-F5344CB8AC3E}">
        <p14:creationId xmlns:p14="http://schemas.microsoft.com/office/powerpoint/2010/main" val="21047215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341059068" r:id="rId1"/>
  </p:sldLayoutIdLst>
  <p:txStyles>
    <p:titleStyle>
      <a:lvl1pPr algn="ctr">
        <a:defRPr sz="4400" kern="1200">
          <a:solidFill>
            <a:schemeClr val="lt1"/>
          </a:solidFill>
        </a:defRPr>
      </a:lvl1pPr>
      <a:extLst/>
    </p:titleStyle>
    <p:bodyStyle>
      <a:lvl1pPr indent="-324900" algn="ctr">
        <a:defRPr sz="3200" kern="1200">
          <a:solidFill>
            <a:schemeClr val="tx1"/>
          </a:solidFill>
        </a:defRPr>
      </a:lvl1pPr>
      <a:extLst/>
    </p:bodyStyle>
    <p:otherStyle>
      <a:defPPr algn="ctr">
        <a:defRPr kern="1200">
          <a:solidFill>
            <a:schemeClr val="tx1"/>
          </a:solidFill>
        </a:defRPr>
      </a:def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0070C0"/>
        </a:solidFill>
        <a:effectLst/>
      </p:bgPr>
    </p:bg>
    <p:spTree>
      <p:nvGrpSpPr>
        <p:cNvPr id="1" name=""/>
        <p:cNvGrpSpPr/>
        <p:nvPr/>
      </p:nvGrpSpPr>
      <p:grpSpPr>
        <a:xfrm>
          <a:off x="0" y="0"/>
          <a:ext cx="0" cy="0"/>
          <a:chOff x="0" y="0"/>
          <a:chExt cx="0" cy="0"/>
        </a:xfrm>
      </p:grpSpPr>
      <p:sp>
        <p:nvSpPr>
          <p:cNvPr id="2" name="CuadroTexto 1"/>
          <p:cNvSpPr txBox="1"/>
          <p:nvPr/>
        </p:nvSpPr>
        <p:spPr>
          <a:xfrm>
            <a:off x="484312" y="1281336"/>
            <a:ext cx="8208912" cy="3416320"/>
          </a:xfrm>
          <a:prstGeom prst="rect">
            <a:avLst/>
          </a:prstGeom>
          <a:noFill/>
        </p:spPr>
        <p:txBody>
          <a:bodyPr wrap="square" rtlCol="0">
            <a:spAutoFit/>
          </a:bodyPr>
          <a:lstStyle/>
          <a:p>
            <a:pPr algn="ctr"/>
            <a:r>
              <a:rPr lang="es-CO" sz="7200" b="1" i="1" dirty="0" smtClean="0">
                <a:solidFill>
                  <a:srgbClr val="FFC000"/>
                </a:solidFill>
                <a:latin typeface="Algerian" panose="04020705040A02060702" pitchFamily="82" charset="0"/>
              </a:rPr>
              <a:t>EL NACIMIENTO DE LA CIENCIA EN EL MUNDO GRIEGO </a:t>
            </a:r>
            <a:endParaRPr lang="es-CO" sz="7200" b="1" i="1" dirty="0">
              <a:solidFill>
                <a:srgbClr val="FFC000"/>
              </a:solidFill>
              <a:latin typeface="Algerian" panose="04020705040A02060702" pitchFamily="82" charset="0"/>
            </a:endParaRPr>
          </a:p>
        </p:txBody>
      </p:sp>
    </p:spTree>
    <p:extLst>
      <p:ext uri="{BB962C8B-B14F-4D97-AF65-F5344CB8AC3E}">
        <p14:creationId xmlns:p14="http://schemas.microsoft.com/office/powerpoint/2010/main" val="19203849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52400"/>
            <a:ext cx="9753600" cy="7620000"/>
          </a:xfrm>
          <a:prstGeom prst="rect">
            <a:avLst/>
          </a:prstGeom>
        </p:spPr>
      </p:pic>
    </p:spTree>
    <p:extLst>
      <p:ext uri="{BB962C8B-B14F-4D97-AF65-F5344CB8AC3E}">
        <p14:creationId xmlns:p14="http://schemas.microsoft.com/office/powerpoint/2010/main" val="795936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58824"/>
            <a:ext cx="9753600" cy="7620000"/>
          </a:xfrm>
          <a:prstGeom prst="rect">
            <a:avLst/>
          </a:prstGeom>
        </p:spPr>
      </p:pic>
      <p:sp>
        <p:nvSpPr>
          <p:cNvPr id="3" name="CuadroTexto 2"/>
          <p:cNvSpPr txBox="1"/>
          <p:nvPr/>
        </p:nvSpPr>
        <p:spPr>
          <a:xfrm>
            <a:off x="196280" y="0"/>
            <a:ext cx="3888432" cy="3477875"/>
          </a:xfrm>
          <a:prstGeom prst="rect">
            <a:avLst/>
          </a:prstGeom>
          <a:noFill/>
        </p:spPr>
        <p:txBody>
          <a:bodyPr wrap="square" rtlCol="0">
            <a:spAutoFit/>
          </a:bodyPr>
          <a:lstStyle/>
          <a:p>
            <a:r>
              <a:rPr lang="es-CO" sz="4400" b="1" dirty="0">
                <a:solidFill>
                  <a:srgbClr val="FFC000"/>
                </a:solidFill>
                <a:latin typeface="Algerian" panose="04020705040A02060702" pitchFamily="82" charset="0"/>
                <a:cs typeface="Calibri" panose="020F0502020204030204" pitchFamily="34" charset="0"/>
              </a:rPr>
              <a:t>Principales filósofos griegos: Tales de Mileto</a:t>
            </a:r>
          </a:p>
        </p:txBody>
      </p:sp>
      <p:sp>
        <p:nvSpPr>
          <p:cNvPr id="4" name="CuadroTexto 3"/>
          <p:cNvSpPr txBox="1"/>
          <p:nvPr/>
        </p:nvSpPr>
        <p:spPr>
          <a:xfrm>
            <a:off x="7253064" y="2793504"/>
            <a:ext cx="2304256" cy="2585323"/>
          </a:xfrm>
          <a:prstGeom prst="rect">
            <a:avLst/>
          </a:prstGeom>
          <a:noFill/>
        </p:spPr>
        <p:txBody>
          <a:bodyPr wrap="square" rtlCol="0">
            <a:spAutoFit/>
          </a:bodyPr>
          <a:lstStyle/>
          <a:p>
            <a:r>
              <a:rPr lang="es-CO" dirty="0"/>
              <a:t>Tales de Mileto está considerado el primer filósofo, además de uno de los fundadores de la ciencia en general. Nació alrededor del año 624 a.C. y murió alrededor del año 547 a.C. </a:t>
            </a:r>
          </a:p>
        </p:txBody>
      </p:sp>
    </p:spTree>
    <p:extLst>
      <p:ext uri="{BB962C8B-B14F-4D97-AF65-F5344CB8AC3E}">
        <p14:creationId xmlns:p14="http://schemas.microsoft.com/office/powerpoint/2010/main" val="2198162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272" y="417240"/>
            <a:ext cx="9701336" cy="6278642"/>
          </a:xfrm>
          <a:prstGeom prst="rect">
            <a:avLst/>
          </a:prstGeom>
          <a:noFill/>
        </p:spPr>
        <p:txBody>
          <a:bodyPr wrap="square" rtlCol="0">
            <a:spAutoFit/>
          </a:bodyPr>
          <a:lstStyle/>
          <a:p>
            <a:r>
              <a:rPr lang="es-CO" sz="3200" dirty="0">
                <a:latin typeface="Arial Narrow" panose="020B0606020202030204" pitchFamily="34" charset="0"/>
              </a:rPr>
              <a:t>E</a:t>
            </a:r>
            <a:r>
              <a:rPr lang="es-CO" sz="3200" dirty="0" smtClean="0">
                <a:latin typeface="Arial Narrow" panose="020B0606020202030204" pitchFamily="34" charset="0"/>
              </a:rPr>
              <a:t>s </a:t>
            </a:r>
            <a:r>
              <a:rPr lang="es-CO" sz="3200" dirty="0">
                <a:latin typeface="Arial Narrow" panose="020B0606020202030204" pitchFamily="34" charset="0"/>
              </a:rPr>
              <a:t>conocido por formular el teorema de Tales, según el cual: "si dos rectas cualesquiera se cortan por varias rectas paralelas, los segmentos determinados en una de las rectas son proporcionales a los segmentos correspondientes en la </a:t>
            </a:r>
            <a:r>
              <a:rPr lang="es-CO" sz="3200" dirty="0" smtClean="0">
                <a:latin typeface="Arial Narrow" panose="020B0606020202030204" pitchFamily="34" charset="0"/>
              </a:rPr>
              <a:t>otra“.</a:t>
            </a:r>
          </a:p>
          <a:p>
            <a:endParaRPr lang="es-CO" sz="3200" dirty="0">
              <a:latin typeface="Arial Narrow" panose="020B0606020202030204" pitchFamily="34" charset="0"/>
            </a:endParaRPr>
          </a:p>
          <a:p>
            <a:r>
              <a:rPr lang="es-CO" sz="3200" dirty="0" smtClean="0">
                <a:latin typeface="Arial Narrow" panose="020B0606020202030204" pitchFamily="34" charset="0"/>
              </a:rPr>
              <a:t>En Egipto aprendió </a:t>
            </a:r>
            <a:r>
              <a:rPr lang="es-CO" sz="3200" dirty="0">
                <a:latin typeface="Arial Narrow" panose="020B0606020202030204" pitchFamily="34" charset="0"/>
              </a:rPr>
              <a:t>las reglas de la geometría, la observación y la deducción. Esto le permitió llegar a importantes conclusiones, como por ejemplo, como el clima afectaba a la producción de los cultivos e incluso predijo el eclipse total del sol. </a:t>
            </a:r>
            <a:endParaRPr lang="es-CO" sz="3200" dirty="0" smtClean="0">
              <a:latin typeface="Arial Narrow" panose="020B0606020202030204" pitchFamily="34" charset="0"/>
            </a:endParaRPr>
          </a:p>
          <a:p>
            <a:endParaRPr lang="es-CO" sz="3200" dirty="0">
              <a:latin typeface="Arial Narrow" panose="020B0606020202030204" pitchFamily="34" charset="0"/>
            </a:endParaRPr>
          </a:p>
          <a:p>
            <a:r>
              <a:rPr lang="es-CO" sz="3200" dirty="0">
                <a:latin typeface="Arial Narrow" panose="020B0606020202030204" pitchFamily="34" charset="0"/>
              </a:rPr>
              <a:t>Fundó la escuela de Tales que fue la primera y más importante escuela de conocimiento griego de su época</a:t>
            </a:r>
          </a:p>
          <a:p>
            <a:endParaRPr lang="es-CO" dirty="0"/>
          </a:p>
        </p:txBody>
      </p:sp>
    </p:spTree>
    <p:extLst>
      <p:ext uri="{BB962C8B-B14F-4D97-AF65-F5344CB8AC3E}">
        <p14:creationId xmlns:p14="http://schemas.microsoft.com/office/powerpoint/2010/main" val="377090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1420416" y="0"/>
            <a:ext cx="8333184" cy="7315200"/>
          </a:xfrm>
          <a:prstGeom prst="rect">
            <a:avLst/>
          </a:prstGeom>
        </p:spPr>
      </p:pic>
      <p:sp>
        <p:nvSpPr>
          <p:cNvPr id="3" name="CuadroTexto 2"/>
          <p:cNvSpPr txBox="1"/>
          <p:nvPr/>
        </p:nvSpPr>
        <p:spPr>
          <a:xfrm>
            <a:off x="52264" y="201216"/>
            <a:ext cx="3600400" cy="3508653"/>
          </a:xfrm>
          <a:prstGeom prst="rect">
            <a:avLst/>
          </a:prstGeom>
          <a:noFill/>
        </p:spPr>
        <p:txBody>
          <a:bodyPr wrap="square" rtlCol="0">
            <a:spAutoFit/>
          </a:bodyPr>
          <a:lstStyle/>
          <a:p>
            <a:r>
              <a:rPr lang="es-CO" sz="3600" dirty="0">
                <a:solidFill>
                  <a:srgbClr val="FFC000"/>
                </a:solidFill>
                <a:latin typeface="Algerian" panose="04020705040A02060702" pitchFamily="82" charset="0"/>
              </a:rPr>
              <a:t>Anaximandro</a:t>
            </a:r>
            <a:r>
              <a:rPr lang="es-CO" sz="3600" dirty="0" smtClean="0">
                <a:solidFill>
                  <a:srgbClr val="FFC000"/>
                </a:solidFill>
                <a:latin typeface="Algerian" panose="04020705040A02060702" pitchFamily="82" charset="0"/>
              </a:rPr>
              <a:t>: </a:t>
            </a:r>
            <a:r>
              <a:rPr lang="es-CO" sz="2800" dirty="0" smtClean="0">
                <a:solidFill>
                  <a:srgbClr val="FFC000"/>
                </a:solidFill>
                <a:latin typeface="Algerian" panose="04020705040A02060702" pitchFamily="82" charset="0"/>
              </a:rPr>
              <a:t>filósofo </a:t>
            </a:r>
            <a:r>
              <a:rPr lang="es-CO" sz="2800" dirty="0">
                <a:solidFill>
                  <a:srgbClr val="FFC000"/>
                </a:solidFill>
                <a:latin typeface="Algerian" panose="04020705040A02060702" pitchFamily="82" charset="0"/>
              </a:rPr>
              <a:t>presocrático</a:t>
            </a:r>
          </a:p>
          <a:p>
            <a:r>
              <a:rPr lang="es-CO" sz="2800" dirty="0" smtClean="0">
                <a:solidFill>
                  <a:srgbClr val="FFC000"/>
                </a:solidFill>
                <a:latin typeface="Algerian" panose="04020705040A02060702" pitchFamily="82" charset="0"/>
              </a:rPr>
              <a:t>Nació </a:t>
            </a:r>
            <a:r>
              <a:rPr lang="es-CO" sz="2800" dirty="0">
                <a:solidFill>
                  <a:srgbClr val="FFC000"/>
                </a:solidFill>
                <a:latin typeface="Algerian" panose="04020705040A02060702" pitchFamily="82" charset="0"/>
              </a:rPr>
              <a:t>en Mileto, en el año 656 a.C. y murió en el 545 </a:t>
            </a:r>
            <a:r>
              <a:rPr lang="es-CO" sz="2800" dirty="0" smtClean="0">
                <a:solidFill>
                  <a:srgbClr val="FFC000"/>
                </a:solidFill>
                <a:latin typeface="Algerian" panose="04020705040A02060702" pitchFamily="82" charset="0"/>
              </a:rPr>
              <a:t>a.C.</a:t>
            </a:r>
            <a:endParaRPr lang="es-CO" sz="2800" dirty="0">
              <a:solidFill>
                <a:srgbClr val="FFC000"/>
              </a:solidFill>
              <a:latin typeface="Algerian" panose="04020705040A02060702" pitchFamily="82" charset="0"/>
            </a:endParaRPr>
          </a:p>
          <a:p>
            <a:endParaRPr lang="es-CO" dirty="0"/>
          </a:p>
        </p:txBody>
      </p:sp>
    </p:spTree>
    <p:extLst>
      <p:ext uri="{BB962C8B-B14F-4D97-AF65-F5344CB8AC3E}">
        <p14:creationId xmlns:p14="http://schemas.microsoft.com/office/powerpoint/2010/main" val="19678640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2264" y="57200"/>
            <a:ext cx="9557320" cy="7263527"/>
          </a:xfrm>
          <a:prstGeom prst="rect">
            <a:avLst/>
          </a:prstGeom>
          <a:noFill/>
        </p:spPr>
        <p:txBody>
          <a:bodyPr wrap="square" rtlCol="0">
            <a:spAutoFit/>
          </a:bodyPr>
          <a:lstStyle/>
          <a:p>
            <a:pPr algn="just"/>
            <a:r>
              <a:rPr lang="es-CO" sz="3200" dirty="0" smtClean="0">
                <a:latin typeface="Arial Narrow" panose="020B0606020202030204" pitchFamily="34" charset="0"/>
              </a:rPr>
              <a:t>Asistió </a:t>
            </a:r>
            <a:r>
              <a:rPr lang="es-CO" sz="3200" dirty="0">
                <a:latin typeface="Arial Narrow" panose="020B0606020202030204" pitchFamily="34" charset="0"/>
              </a:rPr>
              <a:t>a la Escuela de Mileto, por lo que fue discípulo de Tales de Mileto. Pronto, también nació en Mileto. La filosofía de Anaximandro se basa en encontrar una justificación natural para el mundo</a:t>
            </a:r>
            <a:r>
              <a:rPr lang="es-CO" sz="3200" dirty="0" smtClean="0">
                <a:latin typeface="Arial Narrow" panose="020B0606020202030204" pitchFamily="34" charset="0"/>
              </a:rPr>
              <a:t>.</a:t>
            </a:r>
          </a:p>
          <a:p>
            <a:pPr algn="just"/>
            <a:endParaRPr lang="es-CO" sz="3200" dirty="0">
              <a:latin typeface="Arial Narrow" panose="020B0606020202030204" pitchFamily="34" charset="0"/>
            </a:endParaRPr>
          </a:p>
          <a:p>
            <a:pPr algn="just"/>
            <a:r>
              <a:rPr lang="es-CO" sz="3200" dirty="0">
                <a:latin typeface="Arial Narrow" panose="020B0606020202030204" pitchFamily="34" charset="0"/>
              </a:rPr>
              <a:t>Este filósofo de la Antigua Grecia defendió la idea de </a:t>
            </a:r>
            <a:r>
              <a:rPr lang="es-CO" sz="3200" dirty="0" err="1">
                <a:latin typeface="Arial Narrow" panose="020B0606020202030204" pitchFamily="34" charset="0"/>
              </a:rPr>
              <a:t>Apeiron</a:t>
            </a:r>
            <a:r>
              <a:rPr lang="es-CO" sz="3200" dirty="0">
                <a:latin typeface="Arial Narrow" panose="020B0606020202030204" pitchFamily="34" charset="0"/>
              </a:rPr>
              <a:t>, es decir, afirmaba que la realidad que no tiene principio ni fin, es ilimitada, invisible e indeterminada. </a:t>
            </a:r>
          </a:p>
          <a:p>
            <a:pPr algn="just"/>
            <a:endParaRPr lang="es-CO" sz="3200" dirty="0">
              <a:latin typeface="Arial Narrow" panose="020B0606020202030204" pitchFamily="34" charset="0"/>
            </a:endParaRPr>
          </a:p>
          <a:p>
            <a:pPr algn="just"/>
            <a:r>
              <a:rPr lang="es-CO" sz="3200" dirty="0">
                <a:latin typeface="Arial Narrow" panose="020B0606020202030204" pitchFamily="34" charset="0"/>
              </a:rPr>
              <a:t>Además dejó escritos sobre geometría y astronomía. Anaximandro pensaba que el sol actuaba sobre el agua, creando seres que evolucionaron hacia otros seres posteriores</a:t>
            </a:r>
            <a:r>
              <a:rPr lang="es-CO" sz="3200" dirty="0" smtClean="0">
                <a:latin typeface="Arial Narrow" panose="020B0606020202030204" pitchFamily="34" charset="0"/>
              </a:rPr>
              <a:t>. </a:t>
            </a:r>
            <a:r>
              <a:rPr lang="es-CO" sz="3200" dirty="0">
                <a:latin typeface="Arial Narrow" panose="020B0606020202030204" pitchFamily="34" charset="0"/>
              </a:rPr>
              <a:t>Es el germen de la teoría de la evolución de Darwin</a:t>
            </a:r>
            <a:r>
              <a:rPr lang="es-CO" sz="3200" dirty="0" smtClean="0">
                <a:latin typeface="Arial Narrow" panose="020B0606020202030204" pitchFamily="34" charset="0"/>
              </a:rPr>
              <a:t>.</a:t>
            </a:r>
            <a:endParaRPr lang="es-CO" dirty="0"/>
          </a:p>
        </p:txBody>
      </p:sp>
    </p:spTree>
    <p:extLst>
      <p:ext uri="{BB962C8B-B14F-4D97-AF65-F5344CB8AC3E}">
        <p14:creationId xmlns:p14="http://schemas.microsoft.com/office/powerpoint/2010/main" val="29942246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
        <p:nvSpPr>
          <p:cNvPr id="3" name="CuadroTexto 2"/>
          <p:cNvSpPr txBox="1"/>
          <p:nvPr/>
        </p:nvSpPr>
        <p:spPr>
          <a:xfrm>
            <a:off x="0" y="-86816"/>
            <a:ext cx="9701336" cy="1723549"/>
          </a:xfrm>
          <a:prstGeom prst="rect">
            <a:avLst/>
          </a:prstGeom>
          <a:noFill/>
        </p:spPr>
        <p:txBody>
          <a:bodyPr wrap="square" rtlCol="0">
            <a:spAutoFit/>
          </a:bodyPr>
          <a:lstStyle/>
          <a:p>
            <a:pPr algn="ctr"/>
            <a:r>
              <a:rPr lang="es-CO" sz="4400" b="1" dirty="0" smtClean="0">
                <a:solidFill>
                  <a:srgbClr val="FFC000"/>
                </a:solidFill>
                <a:latin typeface="Algerian" panose="04020705040A02060702" pitchFamily="82" charset="0"/>
              </a:rPr>
              <a:t>Parménides</a:t>
            </a:r>
          </a:p>
          <a:p>
            <a:pPr algn="ctr"/>
            <a:r>
              <a:rPr lang="es-CO" sz="4400" b="1" dirty="0" smtClean="0">
                <a:solidFill>
                  <a:srgbClr val="FFC000"/>
                </a:solidFill>
                <a:latin typeface="Algerian" panose="04020705040A02060702" pitchFamily="82" charset="0"/>
              </a:rPr>
              <a:t>el </a:t>
            </a:r>
            <a:r>
              <a:rPr lang="es-CO" sz="4400" b="1" dirty="0">
                <a:solidFill>
                  <a:srgbClr val="FFC000"/>
                </a:solidFill>
                <a:latin typeface="Algerian" panose="04020705040A02060702" pitchFamily="82" charset="0"/>
              </a:rPr>
              <a:t>mundo es solo una ilusión</a:t>
            </a:r>
          </a:p>
          <a:p>
            <a:endParaRPr lang="es-CO" dirty="0"/>
          </a:p>
        </p:txBody>
      </p:sp>
    </p:spTree>
    <p:extLst>
      <p:ext uri="{BB962C8B-B14F-4D97-AF65-F5344CB8AC3E}">
        <p14:creationId xmlns:p14="http://schemas.microsoft.com/office/powerpoint/2010/main" val="1084096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129208"/>
            <a:ext cx="9753600" cy="5632311"/>
          </a:xfrm>
          <a:prstGeom prst="rect">
            <a:avLst/>
          </a:prstGeom>
          <a:noFill/>
        </p:spPr>
        <p:txBody>
          <a:bodyPr wrap="square" rtlCol="0">
            <a:spAutoFit/>
          </a:bodyPr>
          <a:lstStyle/>
          <a:p>
            <a:r>
              <a:rPr lang="es-CO" sz="3600" dirty="0"/>
              <a:t>Parménides nació en Elea, al sur de Nápoles (aprox. 515-450 a. C.). Para este filósofo griego todo lo "individual", por muy diverso que parezca, es la expresión de un solo ser indivisible, y todo lo que es perceptible ,es una </a:t>
            </a:r>
            <a:r>
              <a:rPr lang="es-CO" sz="3600" dirty="0" smtClean="0"/>
              <a:t>ilusión. </a:t>
            </a:r>
            <a:r>
              <a:rPr lang="es-CO" sz="3600" dirty="0"/>
              <a:t>Afirmó que el mundo era solo una ilusión</a:t>
            </a:r>
            <a:r>
              <a:rPr lang="es-CO" sz="3600" dirty="0" smtClean="0"/>
              <a:t>.</a:t>
            </a:r>
          </a:p>
          <a:p>
            <a:endParaRPr lang="es-CO" sz="3600" dirty="0"/>
          </a:p>
          <a:p>
            <a:r>
              <a:rPr lang="es-CO" sz="3600" dirty="0"/>
              <a:t>Parménides veía la naturaleza como algo inamovible, que no se dividía, ni transformaba. Su pensamiento influyó en Platón.</a:t>
            </a:r>
          </a:p>
        </p:txBody>
      </p:sp>
    </p:spTree>
    <p:extLst>
      <p:ext uri="{BB962C8B-B14F-4D97-AF65-F5344CB8AC3E}">
        <p14:creationId xmlns:p14="http://schemas.microsoft.com/office/powerpoint/2010/main" val="862645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0" y="12680"/>
            <a:ext cx="7344816" cy="7315200"/>
          </a:xfrm>
          <a:prstGeom prst="rect">
            <a:avLst/>
          </a:prstGeom>
        </p:spPr>
      </p:pic>
      <p:sp>
        <p:nvSpPr>
          <p:cNvPr id="4" name="CuadroTexto 3"/>
          <p:cNvSpPr txBox="1"/>
          <p:nvPr/>
        </p:nvSpPr>
        <p:spPr>
          <a:xfrm>
            <a:off x="52264" y="0"/>
            <a:ext cx="3456384" cy="2308324"/>
          </a:xfrm>
          <a:prstGeom prst="rect">
            <a:avLst/>
          </a:prstGeom>
          <a:noFill/>
        </p:spPr>
        <p:txBody>
          <a:bodyPr wrap="square" rtlCol="0">
            <a:spAutoFit/>
          </a:bodyPr>
          <a:lstStyle/>
          <a:p>
            <a:r>
              <a:rPr lang="es-CO" sz="4800" b="1" dirty="0">
                <a:solidFill>
                  <a:srgbClr val="FFC000"/>
                </a:solidFill>
                <a:latin typeface="Algerian" panose="04020705040A02060702" pitchFamily="82" charset="0"/>
              </a:rPr>
              <a:t>Demócrito y el atomismo</a:t>
            </a:r>
          </a:p>
        </p:txBody>
      </p:sp>
      <p:pic>
        <p:nvPicPr>
          <p:cNvPr id="5" name="Imagen 4"/>
          <p:cNvPicPr>
            <a:picLocks noChangeAspect="1"/>
          </p:cNvPicPr>
          <p:nvPr/>
        </p:nvPicPr>
        <p:blipFill>
          <a:blip r:embed="rId3"/>
          <a:stretch>
            <a:fillRect/>
          </a:stretch>
        </p:blipFill>
        <p:spPr>
          <a:xfrm>
            <a:off x="7344816" y="4894878"/>
            <a:ext cx="2469094" cy="2420322"/>
          </a:xfrm>
          <a:prstGeom prst="rect">
            <a:avLst/>
          </a:prstGeom>
        </p:spPr>
      </p:pic>
    </p:spTree>
    <p:extLst>
      <p:ext uri="{BB962C8B-B14F-4D97-AF65-F5344CB8AC3E}">
        <p14:creationId xmlns:p14="http://schemas.microsoft.com/office/powerpoint/2010/main" val="2492213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24165"/>
            <a:ext cx="9557320" cy="7478970"/>
          </a:xfrm>
          <a:prstGeom prst="rect">
            <a:avLst/>
          </a:prstGeom>
          <a:noFill/>
        </p:spPr>
        <p:txBody>
          <a:bodyPr wrap="square" rtlCol="0">
            <a:spAutoFit/>
          </a:bodyPr>
          <a:lstStyle/>
          <a:p>
            <a:pPr algn="just"/>
            <a:r>
              <a:rPr lang="es-CO" sz="4000" dirty="0"/>
              <a:t>Nació alrededor de 460 en la ciudad tracia de </a:t>
            </a:r>
            <a:r>
              <a:rPr lang="es-CO" sz="4000" dirty="0" err="1"/>
              <a:t>Abdera</a:t>
            </a:r>
            <a:r>
              <a:rPr lang="es-CO" sz="4000" dirty="0"/>
              <a:t>, y fue uno de los principales filósofos griegos presocráticos, que desarrolló la teoría del pensador Leucipo, sobre el atomismo. Defendió que los átomos (minúsculos cuerpos indivisibles) son el principio constitutivo y originario de la multiplicidad de seres de la naturaleza.</a:t>
            </a:r>
          </a:p>
          <a:p>
            <a:pPr algn="just"/>
            <a:endParaRPr lang="es-CO" sz="4000" dirty="0"/>
          </a:p>
          <a:p>
            <a:pPr algn="just"/>
            <a:r>
              <a:rPr lang="es-CO" sz="4000" dirty="0"/>
              <a:t>Se le considera como uno de los padres de la física, que buscó definir el origen del mundo y cómo se comportaba. </a:t>
            </a:r>
          </a:p>
        </p:txBody>
      </p:sp>
    </p:spTree>
    <p:extLst>
      <p:ext uri="{BB962C8B-B14F-4D97-AF65-F5344CB8AC3E}">
        <p14:creationId xmlns:p14="http://schemas.microsoft.com/office/powerpoint/2010/main" val="196881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
        <p:nvSpPr>
          <p:cNvPr id="3" name="CuadroTexto 2"/>
          <p:cNvSpPr txBox="1"/>
          <p:nvPr/>
        </p:nvSpPr>
        <p:spPr>
          <a:xfrm>
            <a:off x="25249" y="3225552"/>
            <a:ext cx="4084712" cy="2123658"/>
          </a:xfrm>
          <a:prstGeom prst="rect">
            <a:avLst/>
          </a:prstGeom>
          <a:noFill/>
        </p:spPr>
        <p:txBody>
          <a:bodyPr wrap="square" rtlCol="0">
            <a:spAutoFit/>
          </a:bodyPr>
          <a:lstStyle/>
          <a:p>
            <a:r>
              <a:rPr lang="es-CO" sz="4400" dirty="0">
                <a:solidFill>
                  <a:srgbClr val="FFC000"/>
                </a:solidFill>
                <a:latin typeface="Algerian" panose="04020705040A02060702" pitchFamily="82" charset="0"/>
              </a:rPr>
              <a:t>Pitágoras, filosofía y matemáticas</a:t>
            </a:r>
          </a:p>
        </p:txBody>
      </p:sp>
    </p:spTree>
    <p:extLst>
      <p:ext uri="{BB962C8B-B14F-4D97-AF65-F5344CB8AC3E}">
        <p14:creationId xmlns:p14="http://schemas.microsoft.com/office/powerpoint/2010/main" val="104025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51673"/>
            <a:ext cx="9753600" cy="7263527"/>
          </a:xfrm>
          <a:prstGeom prst="rect">
            <a:avLst/>
          </a:prstGeom>
          <a:noFill/>
        </p:spPr>
        <p:txBody>
          <a:bodyPr wrap="square" rtlCol="0">
            <a:spAutoFit/>
          </a:bodyPr>
          <a:lstStyle/>
          <a:p>
            <a:r>
              <a:rPr lang="es-CO" sz="3200" dirty="0"/>
              <a:t>Pitágoras fue otro filósofo que también asistió a la Escuela Mileto. Sin embargo, sus estudios se centraron en las matemáticas, donde realizó estudios y realizó viajes para adquirir nuevos conocimientos. De hecho, pasó veinte años en Egipto estudiando cálculo, y fue allí donde desarrolló el teorema de Pitágoras, utilizado en matemáticas hasta el día de hoy</a:t>
            </a:r>
            <a:r>
              <a:rPr lang="es-CO" sz="3200" dirty="0" smtClean="0"/>
              <a:t>.</a:t>
            </a:r>
          </a:p>
          <a:p>
            <a:endParaRPr lang="es-CO" sz="3200" dirty="0"/>
          </a:p>
          <a:p>
            <a:r>
              <a:rPr lang="es-CO" sz="3200" dirty="0"/>
              <a:t>El discurso de Pitágoras se basaba en la actitud más desinteresada: la del espectador que contempla discretamente todo lo que sucede a su alrededor. </a:t>
            </a:r>
          </a:p>
          <a:p>
            <a:r>
              <a:rPr lang="es-CO" sz="3200" dirty="0"/>
              <a:t>Pitágoras trató de explicar lo que sucedía en el mundo y en la naturaleza a través de las proporciones geométricas.  Fue fundador de la primera secta filosófica.</a:t>
            </a:r>
          </a:p>
          <a:p>
            <a:endParaRPr lang="es-CO" dirty="0"/>
          </a:p>
        </p:txBody>
      </p:sp>
    </p:spTree>
    <p:extLst>
      <p:ext uri="{BB962C8B-B14F-4D97-AF65-F5344CB8AC3E}">
        <p14:creationId xmlns:p14="http://schemas.microsoft.com/office/powerpoint/2010/main" val="37295569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Tree>
    <p:extLst>
      <p:ext uri="{BB962C8B-B14F-4D97-AF65-F5344CB8AC3E}">
        <p14:creationId xmlns:p14="http://schemas.microsoft.com/office/powerpoint/2010/main" val="9341304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3362" y="33459"/>
            <a:ext cx="9753600" cy="7263527"/>
          </a:xfrm>
          <a:prstGeom prst="rect">
            <a:avLst/>
          </a:prstGeom>
          <a:noFill/>
        </p:spPr>
        <p:txBody>
          <a:bodyPr wrap="square" rtlCol="0">
            <a:spAutoFit/>
          </a:bodyPr>
          <a:lstStyle/>
          <a:p>
            <a:r>
              <a:rPr lang="es-CO" sz="2800" dirty="0"/>
              <a:t>Fue un filósofo griego presocrático nacido en Éfeso, ciudad de Jonia, en la costa occidental del Asia Menor (540 a. C.- 480 a. C.). Se conocen pocos datos sobre su vida, pero sí conocemos más sobre su filosofía y sus estudios. </a:t>
            </a:r>
            <a:endParaRPr lang="es-CO" sz="2800" dirty="0" smtClean="0"/>
          </a:p>
          <a:p>
            <a:endParaRPr lang="es-CO" sz="2800" dirty="0"/>
          </a:p>
          <a:p>
            <a:r>
              <a:rPr lang="es-CO" sz="2800" dirty="0"/>
              <a:t>Es principalmente conocido por afirmar que todo está en constante estado de transformación. Como tal, su conocimiento se ha convertido en lo que ahora se llama metafísica</a:t>
            </a:r>
            <a:r>
              <a:rPr lang="es-CO" sz="2800" dirty="0" smtClean="0"/>
              <a:t>.</a:t>
            </a:r>
          </a:p>
          <a:p>
            <a:endParaRPr lang="es-CO" sz="2800" dirty="0"/>
          </a:p>
          <a:p>
            <a:r>
              <a:rPr lang="es-CO" sz="2800" dirty="0"/>
              <a:t>Fue un filósofo autodidacta que profundizó sobre distintas áreas como la ciencia, la tecnología y las relaciones humanas. </a:t>
            </a:r>
            <a:r>
              <a:rPr lang="es-CO" sz="2800" dirty="0" smtClean="0"/>
              <a:t> </a:t>
            </a:r>
            <a:r>
              <a:rPr lang="es-CO" sz="2800" dirty="0"/>
              <a:t>S</a:t>
            </a:r>
            <a:r>
              <a:rPr lang="es-CO" sz="2800" dirty="0" smtClean="0"/>
              <a:t>iguiendo </a:t>
            </a:r>
            <a:r>
              <a:rPr lang="es-CO" sz="2800" dirty="0"/>
              <a:t>la tradición de los demás filósofos jonios, Heráclito ve en el fuego el </a:t>
            </a:r>
            <a:r>
              <a:rPr lang="es-CO" sz="2800" dirty="0" smtClean="0"/>
              <a:t>origen del </a:t>
            </a:r>
            <a:r>
              <a:rPr lang="es-CO" sz="2800" dirty="0"/>
              <a:t>universo: «Este mundo, el mismo para todos los seres, no lo ha creado ninguno de los dioses o de los hombres, sino que siempre fue, es y será fuego eternamente vivo, que se enciende según medida y se apaga según medida»</a:t>
            </a:r>
          </a:p>
          <a:p>
            <a:endParaRPr lang="es-CO" dirty="0"/>
          </a:p>
        </p:txBody>
      </p:sp>
    </p:spTree>
    <p:extLst>
      <p:ext uri="{BB962C8B-B14F-4D97-AF65-F5344CB8AC3E}">
        <p14:creationId xmlns:p14="http://schemas.microsoft.com/office/powerpoint/2010/main" val="708793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9983"/>
            <a:ext cx="9753600" cy="7315200"/>
          </a:xfrm>
          <a:prstGeom prst="rect">
            <a:avLst/>
          </a:prstGeom>
        </p:spPr>
      </p:pic>
      <p:sp>
        <p:nvSpPr>
          <p:cNvPr id="3" name="CuadroTexto 2"/>
          <p:cNvSpPr txBox="1"/>
          <p:nvPr/>
        </p:nvSpPr>
        <p:spPr>
          <a:xfrm>
            <a:off x="124272" y="-9983"/>
            <a:ext cx="3076600" cy="4832092"/>
          </a:xfrm>
          <a:prstGeom prst="rect">
            <a:avLst/>
          </a:prstGeom>
          <a:noFill/>
        </p:spPr>
        <p:txBody>
          <a:bodyPr wrap="square" rtlCol="0">
            <a:spAutoFit/>
          </a:bodyPr>
          <a:lstStyle/>
          <a:p>
            <a:r>
              <a:rPr lang="es-CO" sz="4400" dirty="0">
                <a:solidFill>
                  <a:srgbClr val="FFC000"/>
                </a:solidFill>
                <a:latin typeface="Algerian" panose="04020705040A02060702" pitchFamily="82" charset="0"/>
              </a:rPr>
              <a:t>Sócrates: "solo </a:t>
            </a:r>
            <a:endParaRPr lang="es-CO" sz="4400" dirty="0" smtClean="0">
              <a:solidFill>
                <a:srgbClr val="FFC000"/>
              </a:solidFill>
              <a:latin typeface="Algerian" panose="04020705040A02060702" pitchFamily="82" charset="0"/>
            </a:endParaRPr>
          </a:p>
          <a:p>
            <a:r>
              <a:rPr lang="es-CO" sz="4400" dirty="0" smtClean="0">
                <a:solidFill>
                  <a:srgbClr val="FFC000"/>
                </a:solidFill>
                <a:latin typeface="Algerian" panose="04020705040A02060702" pitchFamily="82" charset="0"/>
              </a:rPr>
              <a:t>sé </a:t>
            </a:r>
          </a:p>
          <a:p>
            <a:r>
              <a:rPr lang="es-CO" sz="4400" dirty="0" smtClean="0">
                <a:solidFill>
                  <a:srgbClr val="FFC000"/>
                </a:solidFill>
                <a:latin typeface="Algerian" panose="04020705040A02060702" pitchFamily="82" charset="0"/>
              </a:rPr>
              <a:t>que </a:t>
            </a:r>
          </a:p>
          <a:p>
            <a:r>
              <a:rPr lang="es-CO" sz="4400" dirty="0" smtClean="0">
                <a:solidFill>
                  <a:srgbClr val="FFC000"/>
                </a:solidFill>
                <a:latin typeface="Algerian" panose="04020705040A02060702" pitchFamily="82" charset="0"/>
              </a:rPr>
              <a:t>no </a:t>
            </a:r>
          </a:p>
          <a:p>
            <a:r>
              <a:rPr lang="es-CO" sz="4400" dirty="0" smtClean="0">
                <a:solidFill>
                  <a:srgbClr val="FFC000"/>
                </a:solidFill>
                <a:latin typeface="Algerian" panose="04020705040A02060702" pitchFamily="82" charset="0"/>
              </a:rPr>
              <a:t>sé </a:t>
            </a:r>
          </a:p>
          <a:p>
            <a:r>
              <a:rPr lang="es-CO" sz="4400" dirty="0" smtClean="0">
                <a:solidFill>
                  <a:srgbClr val="FFC000"/>
                </a:solidFill>
                <a:latin typeface="Algerian" panose="04020705040A02060702" pitchFamily="82" charset="0"/>
              </a:rPr>
              <a:t>nada</a:t>
            </a:r>
            <a:r>
              <a:rPr lang="es-CO" sz="4400" dirty="0">
                <a:solidFill>
                  <a:srgbClr val="FFC000"/>
                </a:solidFill>
                <a:latin typeface="Algerian" panose="04020705040A02060702" pitchFamily="82" charset="0"/>
              </a:rPr>
              <a:t>"</a:t>
            </a:r>
          </a:p>
        </p:txBody>
      </p:sp>
    </p:spTree>
    <p:extLst>
      <p:ext uri="{BB962C8B-B14F-4D97-AF65-F5344CB8AC3E}">
        <p14:creationId xmlns:p14="http://schemas.microsoft.com/office/powerpoint/2010/main" val="31978344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21314"/>
            <a:ext cx="9753600" cy="7402026"/>
          </a:xfrm>
          <a:prstGeom prst="rect">
            <a:avLst/>
          </a:prstGeom>
          <a:noFill/>
        </p:spPr>
        <p:txBody>
          <a:bodyPr wrap="square" rtlCol="0">
            <a:spAutoFit/>
          </a:bodyPr>
          <a:lstStyle/>
          <a:p>
            <a:pPr algn="just"/>
            <a:r>
              <a:rPr lang="es-CO" sz="2500" dirty="0"/>
              <a:t>Sócrates es uno de los principales filósofos griegos. Vivió aproximadamente entre el 470 y el 399 a. C. En Atenas Sócrates se inicia lo que conocemos como filosofía griega. Nació en Atenas en el año 399 a. C y, su importante legado surgió debido a su discusión y oposición a los sofistas, que eran los que enseñaban la sabiduría en su época. Sócrates les criticó por creer que lo sabían todo y su verdad era la única. En oposición a ellos, Sócrates formuló aquella famosa frase "solo sé que no sé nada". Y es que, para el filósofo, el ser humano debe reconocer su propia ignorancia y buscar respuestas</a:t>
            </a:r>
            <a:r>
              <a:rPr lang="es-CO" sz="2500" dirty="0" smtClean="0"/>
              <a:t>.</a:t>
            </a:r>
          </a:p>
          <a:p>
            <a:pPr algn="just"/>
            <a:endParaRPr lang="es-CO" sz="2500" dirty="0"/>
          </a:p>
          <a:p>
            <a:pPr algn="just"/>
            <a:r>
              <a:rPr lang="es-CO" sz="2500" dirty="0"/>
              <a:t>Este filósofo se dirigía a los atenienses en plena calle, conversaba con ellos e intentaba que se cuestionaran todo y tuvieran un pensamiento crítico. Al hacerlo, evocó las virtudes de la justicia, la valentía y la prudencia de las personas. </a:t>
            </a:r>
            <a:endParaRPr lang="es-CO" sz="2500" dirty="0" smtClean="0"/>
          </a:p>
          <a:p>
            <a:pPr algn="just"/>
            <a:endParaRPr lang="es-CO" sz="2500" dirty="0"/>
          </a:p>
          <a:p>
            <a:pPr algn="just"/>
            <a:r>
              <a:rPr lang="es-CO" sz="2500" dirty="0" smtClean="0"/>
              <a:t>Sócrates </a:t>
            </a:r>
            <a:r>
              <a:rPr lang="es-CO" sz="2500" dirty="0"/>
              <a:t>fue condenado a muerte por seducir a la juventud y blasfemia. Uno de sus discípulos, Platón, continuó su legado. Tanto es así que fue quien puso por escrito las enseñanzas de Sócrates, quién no dejó un solo </a:t>
            </a:r>
            <a:r>
              <a:rPr lang="es-CO" sz="2500" dirty="0" smtClean="0"/>
              <a:t>texto.</a:t>
            </a:r>
            <a:endParaRPr lang="es-CO" sz="2500" dirty="0"/>
          </a:p>
        </p:txBody>
      </p:sp>
    </p:spTree>
    <p:extLst>
      <p:ext uri="{BB962C8B-B14F-4D97-AF65-F5344CB8AC3E}">
        <p14:creationId xmlns:p14="http://schemas.microsoft.com/office/powerpoint/2010/main" val="854300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25666"/>
            <a:ext cx="9753600" cy="7315200"/>
          </a:xfrm>
          <a:prstGeom prst="rect">
            <a:avLst/>
          </a:prstGeom>
        </p:spPr>
      </p:pic>
      <p:sp>
        <p:nvSpPr>
          <p:cNvPr id="3" name="CuadroTexto 2"/>
          <p:cNvSpPr txBox="1"/>
          <p:nvPr/>
        </p:nvSpPr>
        <p:spPr>
          <a:xfrm>
            <a:off x="268288" y="345232"/>
            <a:ext cx="3888432" cy="2862322"/>
          </a:xfrm>
          <a:prstGeom prst="rect">
            <a:avLst/>
          </a:prstGeom>
          <a:noFill/>
        </p:spPr>
        <p:txBody>
          <a:bodyPr wrap="square" rtlCol="0">
            <a:spAutoFit/>
          </a:bodyPr>
          <a:lstStyle/>
          <a:p>
            <a:r>
              <a:rPr lang="es-CO" sz="6000" dirty="0">
                <a:solidFill>
                  <a:srgbClr val="FFC000"/>
                </a:solidFill>
                <a:latin typeface="Algerian" panose="04020705040A02060702" pitchFamily="82" charset="0"/>
              </a:rPr>
              <a:t>Platón </a:t>
            </a:r>
            <a:endParaRPr lang="es-CO" sz="6000" dirty="0" smtClean="0">
              <a:solidFill>
                <a:srgbClr val="FFC000"/>
              </a:solidFill>
              <a:latin typeface="Algerian" panose="04020705040A02060702" pitchFamily="82" charset="0"/>
            </a:endParaRPr>
          </a:p>
          <a:p>
            <a:r>
              <a:rPr lang="es-CO" sz="6000" dirty="0" smtClean="0">
                <a:solidFill>
                  <a:srgbClr val="FFC000"/>
                </a:solidFill>
                <a:latin typeface="Algerian" panose="04020705040A02060702" pitchFamily="82" charset="0"/>
              </a:rPr>
              <a:t>y </a:t>
            </a:r>
            <a:r>
              <a:rPr lang="es-CO" sz="6000" dirty="0">
                <a:solidFill>
                  <a:srgbClr val="FFC000"/>
                </a:solidFill>
                <a:latin typeface="Algerian" panose="04020705040A02060702" pitchFamily="82" charset="0"/>
              </a:rPr>
              <a:t>su filosofía</a:t>
            </a:r>
          </a:p>
        </p:txBody>
      </p:sp>
    </p:spTree>
    <p:extLst>
      <p:ext uri="{BB962C8B-B14F-4D97-AF65-F5344CB8AC3E}">
        <p14:creationId xmlns:p14="http://schemas.microsoft.com/office/powerpoint/2010/main" val="13223792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3334" y="129208"/>
            <a:ext cx="9766934" cy="7478970"/>
          </a:xfrm>
          <a:prstGeom prst="rect">
            <a:avLst/>
          </a:prstGeom>
          <a:noFill/>
        </p:spPr>
        <p:txBody>
          <a:bodyPr wrap="square" rtlCol="0">
            <a:spAutoFit/>
          </a:bodyPr>
          <a:lstStyle/>
          <a:p>
            <a:r>
              <a:rPr lang="es-CO" sz="2400" dirty="0" smtClean="0"/>
              <a:t>Platón </a:t>
            </a:r>
            <a:r>
              <a:rPr lang="es-CO" sz="2400" dirty="0"/>
              <a:t>procedía de una familia noble de Atenas fue discípulo de </a:t>
            </a:r>
            <a:r>
              <a:rPr lang="es-CO" sz="2400" dirty="0" smtClean="0"/>
              <a:t>Sócrates</a:t>
            </a:r>
            <a:r>
              <a:rPr lang="es-CO" sz="2400" dirty="0"/>
              <a:t>. Adoptó algunas de sus enseñanzas, escribió sus diálogos filosóficos y fundó la primera Universidad del mundo, denominada Academia Platónica en el año 387 a. C. </a:t>
            </a:r>
          </a:p>
          <a:p>
            <a:r>
              <a:rPr lang="es-CO" sz="2400" dirty="0"/>
              <a:t>Al igual que Sócrates, Platón se preguntó sobre el verdadero "ser" y afirmó que el bien es el origen y fin de todas las cosas, por lo que el hombre tiene como objetivo llegar a esa idea del bien</a:t>
            </a:r>
            <a:r>
              <a:rPr lang="es-CO" sz="2400" dirty="0" smtClean="0"/>
              <a:t>.</a:t>
            </a:r>
          </a:p>
          <a:p>
            <a:endParaRPr lang="es-CO" sz="2400" dirty="0"/>
          </a:p>
          <a:p>
            <a:r>
              <a:rPr lang="es-CO" sz="2400" dirty="0" smtClean="0"/>
              <a:t>Reflexionó </a:t>
            </a:r>
            <a:r>
              <a:rPr lang="es-CO" sz="2400" dirty="0"/>
              <a:t>sobre la ética y la moral. Además, fue el creador del mito de las cavernas, una de las mayores alegorías jamás creadas en la historia filosófica. Por tanto, en este mito relata sobre el hombre que vive en un mundo de sombras, sin prestar atención al mundo real.</a:t>
            </a:r>
          </a:p>
          <a:p>
            <a:endParaRPr lang="es-CO" sz="2400" dirty="0" smtClean="0"/>
          </a:p>
          <a:p>
            <a:r>
              <a:rPr lang="es-CO" sz="2400" dirty="0" smtClean="0"/>
              <a:t>Platón </a:t>
            </a:r>
            <a:r>
              <a:rPr lang="es-CO" sz="2400" dirty="0"/>
              <a:t>dividió el alma humana en sabiduría, valentía y templanza y atribuyó una virtud a cada parte del alma. Cuando los tres hacen su trabajo, es cuando surge la virtud de la justicia. Con esto, Platón sentó las bases de las cuatro. En su doctrina del estado presentó el estado ideal basado en la justicia, la virtud y la sabiduría. También dividió el estado en gobernantes, guardias y campesinos. Hay justicia cuando existe armonía entre las tres.  </a:t>
            </a:r>
          </a:p>
          <a:p>
            <a:endParaRPr lang="es-CO" sz="2400" dirty="0"/>
          </a:p>
        </p:txBody>
      </p:sp>
    </p:spTree>
    <p:extLst>
      <p:ext uri="{BB962C8B-B14F-4D97-AF65-F5344CB8AC3E}">
        <p14:creationId xmlns:p14="http://schemas.microsoft.com/office/powerpoint/2010/main" val="27277557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9969624" cy="7444408"/>
          </a:xfrm>
          <a:prstGeom prst="rect">
            <a:avLst/>
          </a:prstGeom>
        </p:spPr>
      </p:pic>
      <p:sp>
        <p:nvSpPr>
          <p:cNvPr id="3" name="CuadroTexto 2"/>
          <p:cNvSpPr txBox="1"/>
          <p:nvPr/>
        </p:nvSpPr>
        <p:spPr>
          <a:xfrm>
            <a:off x="6244952" y="3369568"/>
            <a:ext cx="3580656" cy="2554545"/>
          </a:xfrm>
          <a:prstGeom prst="rect">
            <a:avLst/>
          </a:prstGeom>
          <a:noFill/>
        </p:spPr>
        <p:txBody>
          <a:bodyPr wrap="square" rtlCol="0">
            <a:spAutoFit/>
          </a:bodyPr>
          <a:lstStyle/>
          <a:p>
            <a:r>
              <a:rPr lang="es-CO" sz="4000" b="1" dirty="0">
                <a:solidFill>
                  <a:srgbClr val="FFC000"/>
                </a:solidFill>
                <a:latin typeface="Algerian" panose="04020705040A02060702" pitchFamily="82" charset="0"/>
              </a:rPr>
              <a:t>Aristóteles, </a:t>
            </a:r>
            <a:endParaRPr lang="es-CO" sz="4000" b="1" dirty="0" smtClean="0">
              <a:solidFill>
                <a:srgbClr val="FFC000"/>
              </a:solidFill>
              <a:latin typeface="Algerian" panose="04020705040A02060702" pitchFamily="82" charset="0"/>
            </a:endParaRPr>
          </a:p>
          <a:p>
            <a:r>
              <a:rPr lang="es-CO" sz="4000" b="1" dirty="0" smtClean="0">
                <a:solidFill>
                  <a:srgbClr val="FFC000"/>
                </a:solidFill>
                <a:latin typeface="Algerian" panose="04020705040A02060702" pitchFamily="82" charset="0"/>
              </a:rPr>
              <a:t>un </a:t>
            </a:r>
            <a:r>
              <a:rPr lang="es-CO" sz="4000" b="1" dirty="0">
                <a:solidFill>
                  <a:srgbClr val="FFC000"/>
                </a:solidFill>
                <a:latin typeface="Algerian" panose="04020705040A02060702" pitchFamily="82" charset="0"/>
              </a:rPr>
              <a:t>filósofo polifacético</a:t>
            </a:r>
          </a:p>
          <a:p>
            <a:endParaRPr lang="es-CO" sz="4000" dirty="0">
              <a:solidFill>
                <a:srgbClr val="FFC000"/>
              </a:solidFill>
              <a:latin typeface="Algerian" panose="04020705040A02060702" pitchFamily="82" charset="0"/>
            </a:endParaRPr>
          </a:p>
        </p:txBody>
      </p:sp>
    </p:spTree>
    <p:extLst>
      <p:ext uri="{BB962C8B-B14F-4D97-AF65-F5344CB8AC3E}">
        <p14:creationId xmlns:p14="http://schemas.microsoft.com/office/powerpoint/2010/main" val="3780730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0"/>
            <a:ext cx="9413304" cy="7386638"/>
          </a:xfrm>
          <a:prstGeom prst="rect">
            <a:avLst/>
          </a:prstGeom>
          <a:noFill/>
        </p:spPr>
        <p:txBody>
          <a:bodyPr wrap="square" rtlCol="0">
            <a:spAutoFit/>
          </a:bodyPr>
          <a:lstStyle/>
          <a:p>
            <a:r>
              <a:rPr lang="es-CO" sz="2400" dirty="0"/>
              <a:t>El filósofo Aristóteles (384 </a:t>
            </a:r>
            <a:r>
              <a:rPr lang="es-CO" sz="2400" dirty="0" err="1"/>
              <a:t>a.C</a:t>
            </a:r>
            <a:r>
              <a:rPr lang="es-CO" sz="2400" dirty="0"/>
              <a:t> - 322 a.C.) fue inicialmente alumno de Platón, pero con el paso del tiempo se distanció cada vez más de sus enseñanzas y fundó en el año 334 a. C. la escuela </a:t>
            </a:r>
            <a:r>
              <a:rPr lang="es-CO" sz="2400" dirty="0" smtClean="0"/>
              <a:t>peripatética(que pasea) </a:t>
            </a:r>
            <a:r>
              <a:rPr lang="es-CO" sz="2400" dirty="0"/>
              <a:t>en Grecia (sus seguidores se conocían como peripatéticos). Es uno de los filósofos más conocidos de la historia de la filosofía</a:t>
            </a:r>
            <a:r>
              <a:rPr lang="es-CO" sz="2400" dirty="0" smtClean="0"/>
              <a:t>.</a:t>
            </a:r>
          </a:p>
          <a:p>
            <a:endParaRPr lang="es-CO" sz="2400" dirty="0"/>
          </a:p>
          <a:p>
            <a:r>
              <a:rPr lang="es-CO" sz="2400" dirty="0"/>
              <a:t>Aristóteles basó sus reflexiones sobre los fenómenos naturales y la existencia de los seres humanos. Sus estudios se centraron en el mundo físico, y afirmó que la búsqueda del conocimiento se da a través de la vivencia de experiencias. Dividió la materia en categorías y llegó a la conclusión de que todo se puede explorar y describir. Esto lo convirtió en un erudito universal y sentó las bases para el desarrollo de las ciencias naturales. </a:t>
            </a:r>
            <a:endParaRPr lang="es-CO" sz="2400" dirty="0" smtClean="0"/>
          </a:p>
          <a:p>
            <a:endParaRPr lang="es-CO" sz="2400" dirty="0"/>
          </a:p>
          <a:p>
            <a:r>
              <a:rPr lang="es-CO" sz="2400" dirty="0"/>
              <a:t>Fue profesor de Alejandro Magno y dejó un importante legado, entre sus obras: Metafísica, Ética </a:t>
            </a:r>
            <a:r>
              <a:rPr lang="es-CO" sz="2400" dirty="0" err="1"/>
              <a:t>nicomaquea</a:t>
            </a:r>
            <a:r>
              <a:rPr lang="es-CO" sz="2400" dirty="0"/>
              <a:t>, Ética </a:t>
            </a:r>
            <a:r>
              <a:rPr lang="es-CO" sz="2400" dirty="0" err="1"/>
              <a:t>eudemia</a:t>
            </a:r>
            <a:r>
              <a:rPr lang="es-CO" sz="2400" dirty="0"/>
              <a:t>, </a:t>
            </a:r>
            <a:r>
              <a:rPr lang="es-CO" sz="2400" dirty="0" err="1"/>
              <a:t>Ars</a:t>
            </a:r>
            <a:r>
              <a:rPr lang="es-CO" sz="2400" dirty="0"/>
              <a:t> </a:t>
            </a:r>
            <a:r>
              <a:rPr lang="es-CO" sz="2400" dirty="0" err="1"/>
              <a:t>poetica</a:t>
            </a:r>
            <a:r>
              <a:rPr lang="es-CO" sz="2400" dirty="0"/>
              <a:t> y </a:t>
            </a:r>
            <a:r>
              <a:rPr lang="es-CO" sz="2400" dirty="0" err="1"/>
              <a:t>Ars</a:t>
            </a:r>
            <a:r>
              <a:rPr lang="es-CO" sz="2400" dirty="0"/>
              <a:t> </a:t>
            </a:r>
            <a:r>
              <a:rPr lang="es-CO" sz="2400" dirty="0" err="1"/>
              <a:t>rhetorica</a:t>
            </a:r>
            <a:r>
              <a:rPr lang="es-CO" sz="2400" dirty="0"/>
              <a:t>.</a:t>
            </a:r>
          </a:p>
          <a:p>
            <a:r>
              <a:rPr lang="es-CO" sz="2400" dirty="0"/>
              <a:t>Influyó en muy diversos campos con su investigación y reflexiones como en medicina, física o </a:t>
            </a:r>
            <a:r>
              <a:rPr lang="es-CO" sz="2400" dirty="0" smtClean="0"/>
              <a:t>biología</a:t>
            </a:r>
            <a:endParaRPr lang="es-CO" sz="2400" dirty="0"/>
          </a:p>
          <a:p>
            <a:endParaRPr lang="es-CO" dirty="0"/>
          </a:p>
        </p:txBody>
      </p:sp>
    </p:spTree>
    <p:extLst>
      <p:ext uri="{BB962C8B-B14F-4D97-AF65-F5344CB8AC3E}">
        <p14:creationId xmlns:p14="http://schemas.microsoft.com/office/powerpoint/2010/main" val="35166083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96280" y="273224"/>
            <a:ext cx="9145016" cy="1872208"/>
          </a:xfrm>
          <a:prstGeom prst="rect">
            <a:avLst/>
          </a:prstGeom>
          <a:noFill/>
        </p:spPr>
        <p:txBody>
          <a:bodyPr wrap="square" rtlCol="0">
            <a:spAutoFit/>
          </a:bodyPr>
          <a:lstStyle/>
          <a:p>
            <a:endParaRPr lang="es-CO" dirty="0"/>
          </a:p>
        </p:txBody>
      </p:sp>
      <p:pic>
        <p:nvPicPr>
          <p:cNvPr id="4" name="Imagen 3"/>
          <p:cNvPicPr>
            <a:picLocks noChangeAspect="1"/>
          </p:cNvPicPr>
          <p:nvPr/>
        </p:nvPicPr>
        <p:blipFill>
          <a:blip r:embed="rId2"/>
          <a:stretch>
            <a:fillRect/>
          </a:stretch>
        </p:blipFill>
        <p:spPr>
          <a:xfrm>
            <a:off x="0" y="0"/>
            <a:ext cx="9753599" cy="7315200"/>
          </a:xfrm>
          <a:prstGeom prst="rect">
            <a:avLst/>
          </a:prstGeom>
        </p:spPr>
      </p:pic>
      <p:sp>
        <p:nvSpPr>
          <p:cNvPr id="5" name="CuadroTexto 4"/>
          <p:cNvSpPr txBox="1"/>
          <p:nvPr/>
        </p:nvSpPr>
        <p:spPr>
          <a:xfrm>
            <a:off x="196280" y="129208"/>
            <a:ext cx="3312368" cy="4154984"/>
          </a:xfrm>
          <a:prstGeom prst="rect">
            <a:avLst/>
          </a:prstGeom>
          <a:noFill/>
        </p:spPr>
        <p:txBody>
          <a:bodyPr wrap="square" rtlCol="0">
            <a:spAutoFit/>
          </a:bodyPr>
          <a:lstStyle/>
          <a:p>
            <a:r>
              <a:rPr lang="es-CO" sz="4400" dirty="0">
                <a:solidFill>
                  <a:srgbClr val="FFC000"/>
                </a:solidFill>
                <a:latin typeface="Algerian" panose="04020705040A02060702" pitchFamily="82" charset="0"/>
              </a:rPr>
              <a:t>Zenón </a:t>
            </a:r>
            <a:endParaRPr lang="es-CO" sz="4400" dirty="0" smtClean="0">
              <a:solidFill>
                <a:srgbClr val="FFC000"/>
              </a:solidFill>
              <a:latin typeface="Algerian" panose="04020705040A02060702" pitchFamily="82" charset="0"/>
            </a:endParaRPr>
          </a:p>
          <a:p>
            <a:r>
              <a:rPr lang="es-CO" sz="4400" dirty="0" smtClean="0">
                <a:solidFill>
                  <a:srgbClr val="FFC000"/>
                </a:solidFill>
                <a:latin typeface="Algerian" panose="04020705040A02060702" pitchFamily="82" charset="0"/>
              </a:rPr>
              <a:t>de </a:t>
            </a:r>
          </a:p>
          <a:p>
            <a:r>
              <a:rPr lang="es-CO" sz="4400" dirty="0" err="1" smtClean="0">
                <a:solidFill>
                  <a:srgbClr val="FFC000"/>
                </a:solidFill>
                <a:latin typeface="Algerian" panose="04020705040A02060702" pitchFamily="82" charset="0"/>
              </a:rPr>
              <a:t>Cítio</a:t>
            </a:r>
            <a:r>
              <a:rPr lang="es-CO" sz="4400" dirty="0">
                <a:solidFill>
                  <a:srgbClr val="FFC000"/>
                </a:solidFill>
                <a:latin typeface="Algerian" panose="04020705040A02060702" pitchFamily="82" charset="0"/>
              </a:rPr>
              <a:t>, </a:t>
            </a:r>
            <a:endParaRPr lang="es-CO" sz="4400" dirty="0" smtClean="0">
              <a:solidFill>
                <a:srgbClr val="FFC000"/>
              </a:solidFill>
              <a:latin typeface="Algerian" panose="04020705040A02060702" pitchFamily="82" charset="0"/>
            </a:endParaRPr>
          </a:p>
          <a:p>
            <a:r>
              <a:rPr lang="es-CO" sz="4400" dirty="0" smtClean="0">
                <a:solidFill>
                  <a:srgbClr val="FFC000"/>
                </a:solidFill>
                <a:latin typeface="Algerian" panose="04020705040A02060702" pitchFamily="82" charset="0"/>
              </a:rPr>
              <a:t>fundador </a:t>
            </a:r>
          </a:p>
          <a:p>
            <a:r>
              <a:rPr lang="es-CO" sz="4400" dirty="0" smtClean="0">
                <a:solidFill>
                  <a:srgbClr val="FFC000"/>
                </a:solidFill>
                <a:latin typeface="Algerian" panose="04020705040A02060702" pitchFamily="82" charset="0"/>
              </a:rPr>
              <a:t>del </a:t>
            </a:r>
          </a:p>
          <a:p>
            <a:r>
              <a:rPr lang="es-CO" sz="4400" dirty="0" smtClean="0">
                <a:solidFill>
                  <a:srgbClr val="FFC000"/>
                </a:solidFill>
                <a:latin typeface="Algerian" panose="04020705040A02060702" pitchFamily="82" charset="0"/>
              </a:rPr>
              <a:t>estoicismo</a:t>
            </a:r>
            <a:endParaRPr lang="es-CO" sz="4400" dirty="0">
              <a:solidFill>
                <a:srgbClr val="FFC000"/>
              </a:solidFill>
              <a:latin typeface="Algerian" panose="04020705040A02060702" pitchFamily="82" charset="0"/>
            </a:endParaRPr>
          </a:p>
        </p:txBody>
      </p:sp>
    </p:spTree>
    <p:extLst>
      <p:ext uri="{BB962C8B-B14F-4D97-AF65-F5344CB8AC3E}">
        <p14:creationId xmlns:p14="http://schemas.microsoft.com/office/powerpoint/2010/main" val="12531918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83207"/>
            <a:ext cx="9753600" cy="7263527"/>
          </a:xfrm>
          <a:prstGeom prst="rect">
            <a:avLst/>
          </a:prstGeom>
          <a:noFill/>
        </p:spPr>
        <p:txBody>
          <a:bodyPr wrap="square" rtlCol="0">
            <a:spAutoFit/>
          </a:bodyPr>
          <a:lstStyle/>
          <a:p>
            <a:r>
              <a:rPr lang="es-CO" sz="3200" dirty="0"/>
              <a:t>Zenón de </a:t>
            </a:r>
            <a:r>
              <a:rPr lang="es-CO" sz="3200" dirty="0" err="1"/>
              <a:t>Citium</a:t>
            </a:r>
            <a:r>
              <a:rPr lang="es-CO" sz="3200" dirty="0"/>
              <a:t> nació en Chipre y fue un comerciante que se inspiró en las enseñanzas de Sócrates. Fundó el estoicismo a principios del siglo III a. C. y esta rama de la filosofía helenística fue practicada por personajes como Séneca, Marco Aurelio, Cicerón o Catón el Joven.</a:t>
            </a:r>
          </a:p>
          <a:p>
            <a:r>
              <a:rPr lang="es-CO" sz="3200" dirty="0"/>
              <a:t>Esta filosofía busca </a:t>
            </a:r>
            <a:r>
              <a:rPr lang="es-CO" sz="3200" b="1" dirty="0"/>
              <a:t>alcanzar la felicidad y la sabiduría</a:t>
            </a:r>
            <a:r>
              <a:rPr lang="es-CO" sz="3200" dirty="0"/>
              <a:t> y para ello, una persona ha de regirse en el comportamiento y no en las palabras. Los estoicos creen que solo podemos confiar en nosotros y nuestra forma de afrontar los acontecimientos.</a:t>
            </a:r>
          </a:p>
          <a:p>
            <a:r>
              <a:rPr lang="es-CO" sz="3200" dirty="0"/>
              <a:t>Zenón criticó la tesis de Epicuro, alegando que los seres deberían despreciar cualquier tipo de placer y problema. Por lo tanto, el hombre solo debe enfocarse en tener sabiduría para comprender el </a:t>
            </a:r>
            <a:r>
              <a:rPr lang="es-CO" sz="3200" dirty="0" smtClean="0"/>
              <a:t>cosmos.</a:t>
            </a:r>
            <a:endParaRPr lang="es-CO" sz="3200" dirty="0"/>
          </a:p>
          <a:p>
            <a:endParaRPr lang="es-CO" dirty="0"/>
          </a:p>
        </p:txBody>
      </p:sp>
    </p:spTree>
    <p:extLst>
      <p:ext uri="{BB962C8B-B14F-4D97-AF65-F5344CB8AC3E}">
        <p14:creationId xmlns:p14="http://schemas.microsoft.com/office/powerpoint/2010/main" val="3563298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9753600" cy="7402016"/>
          </a:xfrm>
          <a:prstGeom prst="rect">
            <a:avLst/>
          </a:prstGeom>
        </p:spPr>
      </p:pic>
      <p:sp>
        <p:nvSpPr>
          <p:cNvPr id="3" name="CuadroTexto 2"/>
          <p:cNvSpPr txBox="1"/>
          <p:nvPr/>
        </p:nvSpPr>
        <p:spPr>
          <a:xfrm>
            <a:off x="0" y="57200"/>
            <a:ext cx="4588768" cy="3323987"/>
          </a:xfrm>
          <a:prstGeom prst="rect">
            <a:avLst/>
          </a:prstGeom>
          <a:noFill/>
        </p:spPr>
        <p:txBody>
          <a:bodyPr wrap="square" rtlCol="0">
            <a:spAutoFit/>
          </a:bodyPr>
          <a:lstStyle/>
          <a:p>
            <a:r>
              <a:rPr lang="es-CO" sz="4800" b="1" dirty="0">
                <a:solidFill>
                  <a:srgbClr val="FFC000"/>
                </a:solidFill>
                <a:latin typeface="Algerian" panose="04020705040A02060702" pitchFamily="82" charset="0"/>
              </a:rPr>
              <a:t>Principales filósofos helenísticos: Epicuro</a:t>
            </a:r>
          </a:p>
          <a:p>
            <a:endParaRPr lang="es-CO" dirty="0"/>
          </a:p>
        </p:txBody>
      </p:sp>
    </p:spTree>
    <p:extLst>
      <p:ext uri="{BB962C8B-B14F-4D97-AF65-F5344CB8AC3E}">
        <p14:creationId xmlns:p14="http://schemas.microsoft.com/office/powerpoint/2010/main" val="138100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52264" y="57200"/>
            <a:ext cx="9701336" cy="7417415"/>
          </a:xfrm>
          <a:prstGeom prst="rect">
            <a:avLst/>
          </a:prstGeom>
          <a:noFill/>
        </p:spPr>
        <p:txBody>
          <a:bodyPr wrap="square" rtlCol="0">
            <a:spAutoFit/>
          </a:bodyPr>
          <a:lstStyle/>
          <a:p>
            <a:r>
              <a:rPr lang="es-CO" sz="2800" dirty="0"/>
              <a:t>Epicuro nació en la isla de Samos y fue alumno de Sócrates y Aristóteles. Además, fue un importante filósofo que desarrolló una forma de pensamiento llamada epicureísmo</a:t>
            </a:r>
            <a:r>
              <a:rPr lang="es-CO" sz="2800" dirty="0" smtClean="0"/>
              <a:t>.</a:t>
            </a:r>
          </a:p>
          <a:p>
            <a:endParaRPr lang="es-CO" sz="2800" dirty="0"/>
          </a:p>
          <a:p>
            <a:r>
              <a:rPr lang="es-CO" sz="2800" dirty="0"/>
              <a:t>En definitiva, este pensamiento se basaba en que la vida ha de estar regida por placeres moderados, pero no los impuestos por la sociedad. De esta manera, satisfacer esos placeres pequeños puede traer felicidad al ser humano. </a:t>
            </a:r>
            <a:endParaRPr lang="es-CO" sz="2800" dirty="0" smtClean="0"/>
          </a:p>
          <a:p>
            <a:endParaRPr lang="es-CO" sz="2800" dirty="0"/>
          </a:p>
          <a:p>
            <a:r>
              <a:rPr lang="es-CO" sz="2800" dirty="0"/>
              <a:t>También afirmó que no había que temer a la muerte, ya que solo sería una fase transitoria. Es decir, una transformación natural de la vida. Llamó al placer el mayor bien y al dolor el mayor mal. </a:t>
            </a:r>
            <a:endParaRPr lang="es-CO" sz="2800" dirty="0" smtClean="0"/>
          </a:p>
          <a:p>
            <a:endParaRPr lang="es-CO" sz="2800" dirty="0"/>
          </a:p>
          <a:p>
            <a:r>
              <a:rPr lang="es-CO" sz="2800" dirty="0"/>
              <a:t>La enseñanza de Epicuro fue posteriormente rechazada especialmente por el estoicismo y por los seguidores romanos como Cicerón y Séneca. </a:t>
            </a:r>
          </a:p>
          <a:p>
            <a:endParaRPr lang="es-CO" sz="2800" dirty="0"/>
          </a:p>
        </p:txBody>
      </p:sp>
    </p:spTree>
    <p:extLst>
      <p:ext uri="{BB962C8B-B14F-4D97-AF65-F5344CB8AC3E}">
        <p14:creationId xmlns:p14="http://schemas.microsoft.com/office/powerpoint/2010/main" val="774735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0"/>
            <a:ext cx="9753600" cy="7258000"/>
          </a:xfrm>
          <a:prstGeom prst="rect">
            <a:avLst/>
          </a:prstGeom>
        </p:spPr>
      </p:pic>
    </p:spTree>
    <p:extLst>
      <p:ext uri="{BB962C8B-B14F-4D97-AF65-F5344CB8AC3E}">
        <p14:creationId xmlns:p14="http://schemas.microsoft.com/office/powerpoint/2010/main" val="799141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124272" y="345232"/>
            <a:ext cx="9577064" cy="7171194"/>
          </a:xfrm>
          <a:prstGeom prst="rect">
            <a:avLst/>
          </a:prstGeom>
          <a:noFill/>
        </p:spPr>
        <p:txBody>
          <a:bodyPr wrap="square" rtlCol="0">
            <a:spAutoFit/>
          </a:bodyPr>
          <a:lstStyle/>
          <a:p>
            <a:r>
              <a:rPr lang="es-CO" dirty="0"/>
              <a:t>Médico de la Antigua Grecia</a:t>
            </a:r>
          </a:p>
          <a:p>
            <a:r>
              <a:rPr lang="es-CO" dirty="0"/>
              <a:t>–</a:t>
            </a:r>
            <a:r>
              <a:rPr lang="es-CO" b="1" i="1" dirty="0"/>
              <a:t>La fuerza natural dentro de cada uno de nosotros es el mayor sanador de todos</a:t>
            </a:r>
            <a:r>
              <a:rPr lang="es-CO" dirty="0"/>
              <a:t>–</a:t>
            </a:r>
          </a:p>
          <a:p>
            <a:endParaRPr lang="es-CO" dirty="0"/>
          </a:p>
          <a:p>
            <a:r>
              <a:rPr lang="es-CO" dirty="0"/>
              <a:t>Considerado el padre de la medicina.</a:t>
            </a:r>
          </a:p>
          <a:p>
            <a:r>
              <a:rPr lang="es-CO" b="1" dirty="0"/>
              <a:t>Reconocido por</a:t>
            </a:r>
            <a:r>
              <a:rPr lang="es-CO" dirty="0"/>
              <a:t>: Tratados hipocráticos</a:t>
            </a:r>
          </a:p>
          <a:p>
            <a:r>
              <a:rPr lang="es-CO" b="1" dirty="0"/>
              <a:t>Campo</a:t>
            </a:r>
            <a:r>
              <a:rPr lang="es-CO" dirty="0"/>
              <a:t>: </a:t>
            </a:r>
            <a:r>
              <a:rPr lang="es-CO" dirty="0" smtClean="0"/>
              <a:t>Medicina</a:t>
            </a:r>
          </a:p>
          <a:p>
            <a:endParaRPr lang="es-CO" dirty="0"/>
          </a:p>
          <a:p>
            <a:r>
              <a:rPr lang="es-CO" dirty="0"/>
              <a:t>"Acostúmbrese a dos cosas: ayudar; o al menos no hacer daño"</a:t>
            </a:r>
          </a:p>
          <a:p>
            <a:r>
              <a:rPr lang="es-CO" dirty="0" smtClean="0"/>
              <a:t>Hipócrates</a:t>
            </a:r>
          </a:p>
          <a:p>
            <a:endParaRPr lang="es-CO" dirty="0"/>
          </a:p>
          <a:p>
            <a:r>
              <a:rPr lang="es-CO" sz="2800" b="1" dirty="0" smtClean="0"/>
              <a:t>APORTES</a:t>
            </a:r>
            <a:r>
              <a:rPr lang="es-CO" dirty="0" smtClean="0"/>
              <a:t>	</a:t>
            </a:r>
            <a:endParaRPr lang="es-CO" dirty="0"/>
          </a:p>
          <a:p>
            <a:r>
              <a:rPr lang="es-CO" dirty="0"/>
              <a:t>Realizó importantes contribuciones a esta disciplina como fundador de la escuela que revolucionó la medicina de su época, diferenciándola de otros campos asociados tradicionalmente como la </a:t>
            </a:r>
            <a:r>
              <a:rPr lang="es-CO" dirty="0" smtClean="0"/>
              <a:t>teúrgia (</a:t>
            </a:r>
            <a:r>
              <a:rPr lang="es-CO" dirty="0"/>
              <a:t>práctica mágico-religiosa </a:t>
            </a:r>
            <a:r>
              <a:rPr lang="es-CO" dirty="0" smtClean="0"/>
              <a:t>griega, invocación de poderes) </a:t>
            </a:r>
            <a:r>
              <a:rPr lang="es-CO" dirty="0"/>
              <a:t>y la filosofía, convirtiendo su ejercicio en una profesión.</a:t>
            </a:r>
            <a:br>
              <a:rPr lang="es-CO" dirty="0"/>
            </a:br>
            <a:r>
              <a:rPr lang="es-CO" dirty="0"/>
              <a:t/>
            </a:r>
            <a:br>
              <a:rPr lang="es-CO" dirty="0"/>
            </a:br>
            <a:r>
              <a:rPr lang="es-CO" dirty="0"/>
              <a:t>Hipócrates y sus seguidores describieron muchas enfermedades y trastornos médicos. Entre ellas la </a:t>
            </a:r>
            <a:r>
              <a:rPr lang="es-CO" b="1" dirty="0" err="1"/>
              <a:t>acropaquia</a:t>
            </a:r>
            <a:r>
              <a:rPr lang="es-CO" dirty="0"/>
              <a:t> o «</a:t>
            </a:r>
            <a:r>
              <a:rPr lang="es-CO" b="1" dirty="0"/>
              <a:t>dedos hipocráticos</a:t>
            </a:r>
            <a:r>
              <a:rPr lang="es-CO" dirty="0"/>
              <a:t>», un importante signo para diagnosticar la </a:t>
            </a:r>
            <a:r>
              <a:rPr lang="es-CO" b="1" dirty="0"/>
              <a:t>enfermedad pulmonar crónica</a:t>
            </a:r>
            <a:r>
              <a:rPr lang="es-CO" dirty="0"/>
              <a:t>, </a:t>
            </a:r>
            <a:r>
              <a:rPr lang="es-CO" b="1" dirty="0"/>
              <a:t>el cáncer de pulmón</a:t>
            </a:r>
            <a:r>
              <a:rPr lang="es-CO" dirty="0"/>
              <a:t> y la </a:t>
            </a:r>
            <a:r>
              <a:rPr lang="es-CO" b="1" dirty="0"/>
              <a:t>enfermedad cardíaca cianótica</a:t>
            </a:r>
            <a:r>
              <a:rPr lang="es-CO" dirty="0"/>
              <a:t>. Además, fue el primer médico en describir la </a:t>
            </a:r>
            <a:r>
              <a:rPr lang="es-CO" b="1" dirty="0"/>
              <a:t>cara hipocrática </a:t>
            </a:r>
            <a:r>
              <a:rPr lang="es-CO" dirty="0"/>
              <a:t>(apariencia característica del rostro humano cuando está próximo a su muerte) en su obra </a:t>
            </a:r>
            <a:r>
              <a:rPr lang="es-CO" b="1" dirty="0"/>
              <a:t>Prognosis</a:t>
            </a:r>
            <a:r>
              <a:rPr lang="es-CO" dirty="0"/>
              <a:t>.</a:t>
            </a:r>
            <a:br>
              <a:rPr lang="es-CO" dirty="0"/>
            </a:br>
            <a:r>
              <a:rPr lang="es-CO" dirty="0"/>
              <a:t/>
            </a:r>
            <a:br>
              <a:rPr lang="es-CO" dirty="0"/>
            </a:br>
            <a:r>
              <a:rPr lang="es-CO" dirty="0"/>
              <a:t>Fue el primer cirujano de tórax documentado. Categorizó las enfermedades como agudas, crónicas, endémicas y epidémicas. Usó términos como recaída, crisis, convalecencia, paroxismo o pico.</a:t>
            </a:r>
          </a:p>
          <a:p>
            <a:endParaRPr lang="es-CO" dirty="0"/>
          </a:p>
        </p:txBody>
      </p:sp>
    </p:spTree>
    <p:extLst>
      <p:ext uri="{BB962C8B-B14F-4D97-AF65-F5344CB8AC3E}">
        <p14:creationId xmlns:p14="http://schemas.microsoft.com/office/powerpoint/2010/main" val="24108388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91752" y="-86816"/>
            <a:ext cx="9701336" cy="7478970"/>
          </a:xfrm>
          <a:prstGeom prst="rect">
            <a:avLst/>
          </a:prstGeom>
        </p:spPr>
        <p:txBody>
          <a:bodyPr wrap="square">
            <a:spAutoFit/>
          </a:bodyPr>
          <a:lstStyle/>
          <a:p>
            <a:r>
              <a:rPr lang="es-CO" sz="1600" dirty="0"/>
              <a:t>JURAMENTO DE HIPOCRATES</a:t>
            </a:r>
          </a:p>
          <a:p>
            <a:r>
              <a:rPr lang="es-CO" sz="1600" dirty="0"/>
              <a:t>"Por Apolo médico y Esculapio, juro: por </a:t>
            </a:r>
            <a:r>
              <a:rPr lang="es-CO" sz="1600" dirty="0" err="1"/>
              <a:t>Higias</a:t>
            </a:r>
            <a:r>
              <a:rPr lang="es-CO" sz="1600" dirty="0"/>
              <a:t>, </a:t>
            </a:r>
            <a:r>
              <a:rPr lang="es-CO" sz="1600" dirty="0" err="1"/>
              <a:t>Panacace</a:t>
            </a:r>
            <a:r>
              <a:rPr lang="es-CO" sz="1600" dirty="0"/>
              <a:t> y todos los dioses y diosas a quienes pongo por testigos de la observancia de este voto, que me obligo a cumplir lo que ofrezco con todas mis fuerzas y voluntad.</a:t>
            </a:r>
          </a:p>
          <a:p>
            <a:endParaRPr lang="es-CO" sz="1600" dirty="0"/>
          </a:p>
          <a:p>
            <a:r>
              <a:rPr lang="es-CO" sz="1600" dirty="0"/>
              <a:t>Tributaré a mi maestro de Medicina igual respeto que a los autores de mis días, partiendo con ellos mi fortuna y socorriéndoles en caso necesario; trataré a sus hijos como mis hermanos, y si quisieran aprender la ciencia, se las enseñaré desinteresadamente y sin otro género de recompensa. Instruiré con preceptos, lecciones habladas y demás métodos de enseñanza a mis hijos, a los de mis maestros y a los discípulos que me sigan bajo el convenio y juramento que determinan la </a:t>
            </a:r>
            <a:r>
              <a:rPr lang="es-CO" sz="1600" dirty="0" err="1"/>
              <a:t>la</a:t>
            </a:r>
            <a:r>
              <a:rPr lang="es-CO" sz="1600" dirty="0"/>
              <a:t> ley médica y a nadie más.</a:t>
            </a:r>
          </a:p>
          <a:p>
            <a:endParaRPr lang="es-CO" sz="1600" dirty="0"/>
          </a:p>
          <a:p>
            <a:r>
              <a:rPr lang="es-CO" sz="1600" dirty="0"/>
              <a:t>Fijaré el régimen de los enfermos del modo que le sea más conveniente, según mis facultades y mi conocimiento, evitando todo mal e injusticia.</a:t>
            </a:r>
          </a:p>
          <a:p>
            <a:endParaRPr lang="es-CO" sz="1600" dirty="0"/>
          </a:p>
          <a:p>
            <a:r>
              <a:rPr lang="es-CO" sz="1600" dirty="0"/>
              <a:t>No me avendré a pretensiones que afecten a la administración de venenos, ni persuadiré a persona alguna con sugestiones de esa especie; me abstendré igualmente de suministrar a mujeres embarazadas pesarios o abortivos.</a:t>
            </a:r>
          </a:p>
          <a:p>
            <a:endParaRPr lang="es-CO" sz="1600" dirty="0"/>
          </a:p>
          <a:p>
            <a:r>
              <a:rPr lang="es-CO" sz="1600" dirty="0"/>
              <a:t>Mi vida la pasaré y ejerceré mi profesión con inocencia y pureza.</a:t>
            </a:r>
          </a:p>
          <a:p>
            <a:endParaRPr lang="es-CO" sz="1600" dirty="0"/>
          </a:p>
          <a:p>
            <a:r>
              <a:rPr lang="es-CO" sz="1600" dirty="0"/>
              <a:t>No practicaré la talla, dejando esa operación y otras a los especialistas que se dedican a practicarla ordinariamente.</a:t>
            </a:r>
          </a:p>
          <a:p>
            <a:endParaRPr lang="es-CO" sz="1600" dirty="0"/>
          </a:p>
          <a:p>
            <a:r>
              <a:rPr lang="es-CO" sz="1600" dirty="0"/>
              <a:t>Cuando entre en una casa no llevaré otro propósito que el bien y la salud de los enfermos, cuidando mucho de no cometer intencionalmente faltas injuriosas o acciones corruptoras y evitando principalmente la seducción de las mujeres jóvenes, libres o esclavas. Guardaré </a:t>
            </a:r>
            <a:r>
              <a:rPr lang="es-CO" sz="1600" dirty="0" err="1"/>
              <a:t>reseva</a:t>
            </a:r>
            <a:r>
              <a:rPr lang="es-CO" sz="1600" dirty="0"/>
              <a:t> acerca de lo que oiga o vea en la sociedad y no será preciso que se divulgue, sea o no del dominio de mi profesión, considerando el ser discreto como un deber en semejantes casos.</a:t>
            </a:r>
          </a:p>
          <a:p>
            <a:endParaRPr lang="es-CO" sz="1600" dirty="0"/>
          </a:p>
          <a:p>
            <a:r>
              <a:rPr lang="es-CO" sz="1600" dirty="0"/>
              <a:t>Si observo con fidelidad mi juramento, </a:t>
            </a:r>
            <a:r>
              <a:rPr lang="es-CO" sz="1600" dirty="0" err="1"/>
              <a:t>seame</a:t>
            </a:r>
            <a:r>
              <a:rPr lang="es-CO" sz="1600" dirty="0"/>
              <a:t> concedido gozar felizmente mi vida y mi profesión, honrado siempre entre los hombres; si lo quebranto y soy perjuro, caiga sobre mí, la suerte adversa".</a:t>
            </a:r>
          </a:p>
          <a:p>
            <a:endParaRPr lang="es-CO" sz="1600" dirty="0"/>
          </a:p>
          <a:p>
            <a:r>
              <a:rPr lang="es-CO" sz="1600" dirty="0"/>
              <a:t>Hipócrates de </a:t>
            </a:r>
            <a:r>
              <a:rPr lang="es-CO" sz="1600" dirty="0" err="1"/>
              <a:t>Cos</a:t>
            </a:r>
            <a:endParaRPr lang="es-CO" sz="1600" dirty="0"/>
          </a:p>
        </p:txBody>
      </p:sp>
    </p:spTree>
    <p:extLst>
      <p:ext uri="{BB962C8B-B14F-4D97-AF65-F5344CB8AC3E}">
        <p14:creationId xmlns:p14="http://schemas.microsoft.com/office/powerpoint/2010/main" val="3028701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stretch>
            <a:fillRect/>
          </a:stretch>
        </p:blipFill>
        <p:spPr>
          <a:xfrm>
            <a:off x="0" y="129208"/>
            <a:ext cx="9629327" cy="7272808"/>
          </a:xfrm>
          <a:prstGeom prst="rect">
            <a:avLst/>
          </a:prstGeom>
        </p:spPr>
      </p:pic>
    </p:spTree>
    <p:extLst>
      <p:ext uri="{BB962C8B-B14F-4D97-AF65-F5344CB8AC3E}">
        <p14:creationId xmlns:p14="http://schemas.microsoft.com/office/powerpoint/2010/main" val="41094351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p:cNvSpPr txBox="1"/>
          <p:nvPr/>
        </p:nvSpPr>
        <p:spPr>
          <a:xfrm>
            <a:off x="0" y="3253"/>
            <a:ext cx="9754128" cy="7109639"/>
          </a:xfrm>
          <a:prstGeom prst="rect">
            <a:avLst/>
          </a:prstGeom>
          <a:noFill/>
        </p:spPr>
        <p:txBody>
          <a:bodyPr wrap="square" rtlCol="0">
            <a:spAutoFit/>
          </a:bodyPr>
          <a:lstStyle/>
          <a:p>
            <a:r>
              <a:rPr lang="es-CO" sz="1900" b="1" dirty="0">
                <a:solidFill>
                  <a:srgbClr val="FF0000"/>
                </a:solidFill>
              </a:rPr>
              <a:t>Descubrimientos</a:t>
            </a:r>
          </a:p>
          <a:p>
            <a:r>
              <a:rPr lang="es-CO" sz="1900" dirty="0"/>
              <a:t>En su vida, Euclides realizó diversos descubrimientos importantes en la teoría de los números como su conocido algoritmo para el cálculo del máximo común divisor de dos números; en el campo de la geometría con sus axiomas y el conjunto de libros que conforman la obra titulada “Elementos”.</a:t>
            </a:r>
          </a:p>
          <a:p>
            <a:endParaRPr lang="es-CO" sz="1900" dirty="0"/>
          </a:p>
          <a:p>
            <a:r>
              <a:rPr lang="es-CO" sz="1900" b="1" dirty="0">
                <a:solidFill>
                  <a:srgbClr val="FF0000"/>
                </a:solidFill>
              </a:rPr>
              <a:t>Aportes</a:t>
            </a:r>
          </a:p>
          <a:p>
            <a:r>
              <a:rPr lang="es-CO" sz="1900" dirty="0"/>
              <a:t>Dentro de su obra se destacan varios aportes que han sido de mucha importancia para el desarrollo del estudio de la geometría: Estos son: los “Elementos”, el “Algoritmo de Euclides”, la “Geometría Euclidiana”, la “Matemática y Demostración” y los Métodos axiomáticos.</a:t>
            </a:r>
          </a:p>
          <a:p>
            <a:endParaRPr lang="es-CO" sz="1900" dirty="0"/>
          </a:p>
          <a:p>
            <a:r>
              <a:rPr lang="es-CO" sz="1900" b="1" dirty="0">
                <a:solidFill>
                  <a:srgbClr val="FF0000"/>
                </a:solidFill>
              </a:rPr>
              <a:t>Elementos</a:t>
            </a:r>
          </a:p>
          <a:p>
            <a:r>
              <a:rPr lang="es-CO" sz="1900" dirty="0"/>
              <a:t>Es el aporte más conocido de Euclides y está conformado por 465 proposiciones, 93 problemas y 372 teoremas que recogen los desarrollos matemáticos y geométricos más importantes de su época. En esta obra, se encuentran los 5 postulados Euclidianos y el algoritmo de Euclides.</a:t>
            </a:r>
          </a:p>
          <a:p>
            <a:endParaRPr lang="es-CO" sz="1900" dirty="0"/>
          </a:p>
          <a:p>
            <a:r>
              <a:rPr lang="es-CO" sz="1900" dirty="0"/>
              <a:t>Los libros del I al VI desarrollan temas de geometría plana; los libros del VII al X tratan temas de aritmética al presentar la teoría de los números y los segmentos irracionales; los libros del XI al XIII explican la geometría espacial.</a:t>
            </a:r>
          </a:p>
          <a:p>
            <a:endParaRPr lang="es-CO" sz="1900" dirty="0"/>
          </a:p>
          <a:p>
            <a:r>
              <a:rPr lang="es-CO" sz="1900" dirty="0"/>
              <a:t>El algoritmo de Euclides</a:t>
            </a:r>
          </a:p>
          <a:p>
            <a:r>
              <a:rPr lang="es-CO" sz="1900" dirty="0"/>
              <a:t>En este algoritmo, Euclides describe el método para encontrar el máximo común divisor entre dos números. Esta obra ha sido de gran importancia para la matemática y ha sido aplicada en otros campos como la economía.</a:t>
            </a:r>
          </a:p>
        </p:txBody>
      </p:sp>
    </p:spTree>
    <p:extLst>
      <p:ext uri="{BB962C8B-B14F-4D97-AF65-F5344CB8AC3E}">
        <p14:creationId xmlns:p14="http://schemas.microsoft.com/office/powerpoint/2010/main" val="3933440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9753600" cy="7315200"/>
          <a:chOff x="0" y="0"/>
          <a:chExt cx="9753600" cy="7315200"/>
        </a:xfrm>
      </p:grpSpPr>
      <p:pic>
        <p:nvPicPr>
          <p:cNvPr id="2" name="Imagen 1"/>
          <p:cNvPicPr>
            <a:picLocks noChangeAspect="1"/>
          </p:cNvPicPr>
          <p:nvPr/>
        </p:nvPicPr>
        <p:blipFill>
          <a:blip r:embed="rId2"/>
          <a:stretch>
            <a:fillRect/>
          </a:stretch>
        </p:blipFill>
        <p:spPr>
          <a:xfrm>
            <a:off x="0" y="0"/>
            <a:ext cx="9753600" cy="7315200"/>
          </a:xfrm>
          <a:prstGeom prst="rect">
            <a:avLst/>
          </a:prstGeom>
        </p:spPr>
      </p:pic>
    </p:spTree>
  </p:cSld>
  <p:clrMapOvr>
    <a:masterClrMapping/>
  </p:clrMapOvr>
</p:sld>
</file>

<file path=ppt/theme/theme1.xml><?xml version="1.0" encoding="utf-8"?>
<a:theme xmlns:a="http://schemas.openxmlformats.org/drawingml/2006/main" name="Theme96">
  <a:themeElements>
    <a:clrScheme name="Theme96">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Theme96">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Theme96">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TotalTime>
  <Words>1455</Words>
  <Application>Microsoft Office PowerPoint</Application>
  <PresentationFormat>Personalizado</PresentationFormat>
  <Paragraphs>121</Paragraphs>
  <Slides>34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34</vt:i4>
      </vt:variant>
    </vt:vector>
  </HeadingPairs>
  <TitlesOfParts>
    <vt:vector size="38" baseType="lpstr">
      <vt:lpstr>Algerian</vt:lpstr>
      <vt:lpstr>Arial Narrow</vt:lpstr>
      <vt:lpstr>Calibri</vt:lpstr>
      <vt:lpstr>Theme96</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 Presentation</dc:title>
  <dc:subject/>
  <dc:creator>Unknown Creator</dc:creator>
  <cp:keywords/>
  <dc:description/>
  <cp:lastModifiedBy>SARA</cp:lastModifiedBy>
  <cp:revision>18</cp:revision>
  <dcterms:created xsi:type="dcterms:W3CDTF">2022-05-08T20:46:34Z</dcterms:created>
  <dcterms:modified xsi:type="dcterms:W3CDTF">2026-09-13T21:33:40Z</dcterms:modified>
  <cp:category/>
</cp:coreProperties>
</file>